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solidFill>
            <a:srgbClr val="F6C9A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25935" y="2377440"/>
            <a:ext cx="2926080" cy="2926080"/>
          </a:xfrm>
          <a:prstGeom prst="ellipse">
            <a:avLst/>
          </a:prstGeom>
          <a:solidFill>
            <a:srgbClr val="F2C07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554480"/>
            <a:ext cx="4754880" cy="4754880"/>
          </a:xfrm>
          <a:prstGeom prst="ellipse">
            <a:avLst/>
          </a:prstGeom>
          <a:solidFill>
            <a:srgbClr val="F6C9A0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640080" cy="101600"/>
          </a:xfrm>
          <a:prstGeom prst="roundRect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763C"/>
                </a:solidFill>
                <a:latin typeface="Helvetica Neue"/>
              </a:rPr>
              <a:t>PERSEVEX  ·  ARTIFICIAL INTELLIGENCE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05740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2A2520"/>
                </a:solidFill>
                <a:latin typeface="Helvetica Neue"/>
              </a:rPr>
              <a:t>BrandPulse AI </a:t>
            </a:r>
          </a:p>
          <a:p>
            <a:pPr algn="l"/>
            <a:r>
              <a:rPr sz="5200" b="1">
                <a:solidFill>
                  <a:srgbClr val="2A2520"/>
                </a:solidFill>
                <a:latin typeface="Helvetica Neue"/>
              </a:rPr>
              <a:t>Voice of Customer </a:t>
            </a:r>
            <a:r>
              <a:rPr sz="5200" b="1">
                <a:solidFill>
                  <a:srgbClr val="E8763C"/>
                </a:solidFill>
                <a:latin typeface="Helvetica Neue"/>
              </a:rPr>
              <a:t>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9776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8A817A"/>
                </a:solidFill>
                <a:latin typeface="Helvetica Neue"/>
              </a:rPr>
              <a:t>Twitter sentiment analysis — Classical Machine Learning vs Deep Learning, served through a live dashboard.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709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Helvetica Neue"/>
              </a:rPr>
              <a:t>Aaditiya Anjan</a:t>
            </a:r>
            <a:r>
              <a:rPr sz="1300" b="0">
                <a:solidFill>
                  <a:srgbClr val="8A817A"/>
                </a:solidFill>
                <a:latin typeface="Helvetica Neue"/>
              </a:rPr>
              <a:t>    ·    24BCS13112    ·    BE-CSE    ·    Semester 5</a:t>
            </a:r>
          </a:p>
        </p:txBody>
      </p:sp>
      <p:pic>
        <p:nvPicPr>
          <p:cNvPr id="11" name="Picture 10" descr="persevex_logo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384048"/>
            <a:ext cx="1920240" cy="85510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0080" y="5394960"/>
            <a:ext cx="2577007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596128"/>
            <a:ext cx="25770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E8763C"/>
                </a:solidFill>
                <a:latin typeface="Helvetica Neue"/>
              </a:rPr>
              <a:t>77.0%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99632"/>
            <a:ext cx="25770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A817A"/>
                </a:solidFill>
                <a:latin typeface="Helvetica Neue"/>
              </a:rPr>
              <a:t>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8255" y="5394960"/>
            <a:ext cx="2577007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8255" y="5596128"/>
            <a:ext cx="25770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3FA66A"/>
                </a:solidFill>
                <a:latin typeface="Helvetica Neue"/>
              </a:rPr>
              <a:t>0.723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8255" y="6199632"/>
            <a:ext cx="25770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A817A"/>
                </a:solidFill>
                <a:latin typeface="Helvetica Neue"/>
              </a:rPr>
              <a:t>MACRO F1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6430" y="5394960"/>
            <a:ext cx="2577007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6430" y="5596128"/>
            <a:ext cx="25770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3B6EA5"/>
                </a:solidFill>
                <a:latin typeface="Helvetica Neue"/>
              </a:rPr>
              <a:t>14,640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6430" y="6199632"/>
            <a:ext cx="25770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A817A"/>
                </a:solidFill>
                <a:latin typeface="Helvetica Neue"/>
              </a:rPr>
              <a:t>TWEETS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4605" y="5394960"/>
            <a:ext cx="2577007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605" y="5596128"/>
            <a:ext cx="25770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2A2520"/>
                </a:solidFill>
                <a:latin typeface="Helvetica Neu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605" y="6199632"/>
            <a:ext cx="25770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A817A"/>
                </a:solidFill>
                <a:latin typeface="Helvetica Neue"/>
              </a:rPr>
              <a:t>SENTIMENT CLASSES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solidFill>
            <a:srgbClr val="F6C9A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25935" y="2377440"/>
            <a:ext cx="2926080" cy="2926080"/>
          </a:xfrm>
          <a:prstGeom prst="ellipse">
            <a:avLst/>
          </a:prstGeom>
          <a:solidFill>
            <a:srgbClr val="F2C07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554480"/>
            <a:ext cx="4754880" cy="4754880"/>
          </a:xfrm>
          <a:prstGeom prst="ellipse">
            <a:avLst/>
          </a:prstGeom>
          <a:solidFill>
            <a:srgbClr val="F6C9A0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502920" cy="88900"/>
          </a:xfrm>
          <a:prstGeom prst="roundRect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71323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763C"/>
                </a:solidFill>
                <a:latin typeface="Helvetica Neue"/>
              </a:rPr>
              <a:t>01  · 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A2520"/>
                </a:solidFill>
                <a:latin typeface="Helvetica Neue"/>
              </a:rPr>
              <a:t>Internship Overview</a:t>
            </a:r>
          </a:p>
        </p:txBody>
      </p:sp>
      <p:pic>
        <p:nvPicPr>
          <p:cNvPr id="9" name="Picture 8" descr="persevex_logo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384048"/>
            <a:ext cx="1051560" cy="4682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2468880"/>
            <a:ext cx="2577007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70048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8763C"/>
                </a:solidFill>
                <a:latin typeface="Helvetica Neue"/>
              </a:rPr>
              <a:t>ORGANIZATION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17520"/>
            <a:ext cx="21198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A2520"/>
                </a:solidFill>
                <a:latin typeface="Helvetica Neue"/>
              </a:rPr>
              <a:t>Persevex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11880"/>
            <a:ext cx="2119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17A"/>
                </a:solidFill>
                <a:latin typeface="Helvetica Neue"/>
              </a:rPr>
              <a:t>AI / Data Science partner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8255" y="2468880"/>
            <a:ext cx="2577007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6855" y="2670048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8763C"/>
                </a:solidFill>
                <a:latin typeface="Helvetica Neue"/>
              </a:rPr>
              <a:t>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6855" y="3017520"/>
            <a:ext cx="21198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A2520"/>
                </a:solidFill>
                <a:latin typeface="Helvetica Neue"/>
              </a:rPr>
              <a:t>Artificial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6855" y="3611880"/>
            <a:ext cx="2119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17A"/>
                </a:solidFill>
                <a:latin typeface="Helvetica Neue"/>
              </a:rPr>
              <a:t>Applied NLP &amp; deep learning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6430" y="2468880"/>
            <a:ext cx="2577007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5030" y="2670048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8763C"/>
                </a:solidFill>
                <a:latin typeface="Helvetica Neue"/>
              </a:rPr>
              <a:t>DURATION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5030" y="3017520"/>
            <a:ext cx="21198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A2520"/>
                </a:solidFill>
                <a:latin typeface="Helvetica Neue"/>
              </a:rPr>
              <a:t>2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5030" y="3611880"/>
            <a:ext cx="2119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17A"/>
                </a:solidFill>
                <a:latin typeface="Helvetica Neue"/>
              </a:rPr>
              <a:t>End-to-end delivery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4605" y="2468880"/>
            <a:ext cx="2577007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3205" y="2670048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8763C"/>
                </a:solidFill>
                <a:latin typeface="Helvetica Neue"/>
              </a:rPr>
              <a:t>MY 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3205" y="3017520"/>
            <a:ext cx="21198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A2520"/>
                </a:solidFill>
                <a:latin typeface="Helvetica Neue"/>
              </a:rPr>
              <a:t>NLP Intern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3205" y="3611880"/>
            <a:ext cx="2119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817A"/>
                </a:solidFill>
                <a:latin typeface="Helvetica Neue"/>
              </a:rPr>
              <a:t>Data → Model → Product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434840"/>
            <a:ext cx="10911535" cy="1417320"/>
          </a:xfrm>
          <a:prstGeom prst="roundRect">
            <a:avLst>
              <a:gd name="adj" fmla="val 8000"/>
            </a:avLst>
          </a:prstGeom>
          <a:solidFill>
            <a:srgbClr val="F3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6177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763C"/>
                </a:solidFill>
                <a:latin typeface="Helvetica Neue"/>
              </a:rPr>
              <a:t>WHAT I DELIVERED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937760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A2520"/>
                </a:solidFill>
                <a:latin typeface="Helvetica Neue"/>
              </a:rPr>
              <a:t>A complete, explainable sentiment-analysis system — from raw, messy tweets to two trained model families and a premium live dashboard. The project compares the classical TF-IDF approach against a Bi-LSTM deep model and ships an honest, imbalance-aware evaluation.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6291072"/>
            <a:ext cx="10911535" cy="0"/>
          </a:xfrm>
          <a:prstGeom prst="bentConnector3">
            <a:avLst/>
          </a:prstGeom>
          <a:ln w="9525">
            <a:solidFill>
              <a:srgbClr val="ECD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A817A"/>
                </a:solidFill>
                <a:latin typeface="Helvetica Neue"/>
              </a:rPr>
              <a:t>BrandPulse AI  ·  Voice of Customer Intelligence  ·  Persevex AI Internship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5615" y="63825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8A817A"/>
                </a:solidFill>
                <a:latin typeface="Helvetica Neue"/>
              </a:rPr>
              <a:t>Aaditiya Anjan   </a:t>
            </a:r>
            <a:r>
              <a:rPr sz="850" b="1">
                <a:solidFill>
                  <a:srgbClr val="E8763C"/>
                </a:solidFill>
                <a:latin typeface="Helvetica Neue"/>
              </a:rPr>
              <a:t>01</a:t>
            </a:r>
            <a:r>
              <a:rPr sz="850" b="0">
                <a:solidFill>
                  <a:srgbClr val="8A817A"/>
                </a:solidFill>
                <a:latin typeface="Helvetica Neue"/>
              </a:rPr>
              <a:t>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solidFill>
            <a:srgbClr val="F6C9A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25935" y="2377440"/>
            <a:ext cx="2926080" cy="2926080"/>
          </a:xfrm>
          <a:prstGeom prst="ellipse">
            <a:avLst/>
          </a:prstGeom>
          <a:solidFill>
            <a:srgbClr val="F2C07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554480"/>
            <a:ext cx="4754880" cy="4754880"/>
          </a:xfrm>
          <a:prstGeom prst="ellipse">
            <a:avLst/>
          </a:prstGeom>
          <a:solidFill>
            <a:srgbClr val="F6C9A0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502920" cy="88900"/>
          </a:xfrm>
          <a:prstGeom prst="roundRect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71323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763C"/>
                </a:solidFill>
                <a:latin typeface="Helvetica Neue"/>
              </a:rPr>
              <a:t>02  · 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A2520"/>
                </a:solidFill>
                <a:latin typeface="Helvetica Neue"/>
              </a:rPr>
              <a:t>A brand's reputation moves in </a:t>
            </a:r>
            <a:r>
              <a:rPr sz="3300" b="1">
                <a:solidFill>
                  <a:srgbClr val="E8763C"/>
                </a:solidFill>
                <a:latin typeface="Helvetica Neue"/>
              </a:rPr>
              <a:t>minutes</a:t>
            </a:r>
          </a:p>
        </p:txBody>
      </p:sp>
      <p:pic>
        <p:nvPicPr>
          <p:cNvPr id="9" name="Picture 8" descr="persevex_logo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384048"/>
            <a:ext cx="1051560" cy="4682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2468880"/>
            <a:ext cx="33832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E8763C"/>
                </a:solidFill>
                <a:latin typeface="Helvetica Neue"/>
              </a:rPr>
              <a:t>63%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2520"/>
                </a:solidFill>
                <a:latin typeface="Helvetica Neue"/>
              </a:rPr>
              <a:t>of tweets are complaints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2834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8A817A"/>
                </a:solidFill>
                <a:latin typeface="Helvetica Neue"/>
              </a:rPr>
              <a:t>People mostly tweet at brands to complain. A single viral post can erase reputation faster than any campaign can rebuild it — and no human team can read the firehose in real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468880"/>
            <a:ext cx="7253935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2468880"/>
            <a:ext cx="63500" cy="1024128"/>
          </a:xfrm>
          <a:prstGeom prst="roundRect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615184"/>
            <a:ext cx="67967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A2520"/>
                </a:solidFill>
                <a:latin typeface="Helvetica Neue"/>
              </a:rPr>
              <a:t>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71800"/>
            <a:ext cx="67967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A"/>
                </a:solidFill>
                <a:latin typeface="Helvetica Neue"/>
              </a:rPr>
              <a:t>Thousands of noisy tweets per day — slang, sarcasm, emojis, negation. Keyword counting fails completely.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630168"/>
            <a:ext cx="7253935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97680" y="3630168"/>
            <a:ext cx="63500" cy="1024128"/>
          </a:xfrm>
          <a:prstGeom prst="roundRect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776472"/>
            <a:ext cx="67967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A2520"/>
                </a:solidFill>
                <a:latin typeface="Helvetica Neue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133088"/>
            <a:ext cx="67967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A"/>
                </a:solidFill>
                <a:latin typeface="Helvetica Neue"/>
              </a:rPr>
              <a:t>Sentiment is the earliest signal of a brand crisis. Measuring it live means responding before damage spreads.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791456"/>
            <a:ext cx="7253935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97680" y="4791456"/>
            <a:ext cx="63500" cy="1024128"/>
          </a:xfrm>
          <a:prstGeom prst="roundRect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937760"/>
            <a:ext cx="67967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A2520"/>
                </a:solidFill>
                <a:latin typeface="Helvetica Neue"/>
              </a:rPr>
              <a:t>The Objective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294376"/>
            <a:ext cx="67967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817A"/>
                </a:solidFill>
                <a:latin typeface="Helvetica Neue"/>
              </a:rPr>
              <a:t>Classify every tweet as positive, neutral or negative — and explain why — so teams can act on the Voice of the Customer.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291072"/>
            <a:ext cx="10911535" cy="0"/>
          </a:xfrm>
          <a:prstGeom prst="bentConnector3">
            <a:avLst/>
          </a:prstGeom>
          <a:ln w="9525">
            <a:solidFill>
              <a:srgbClr val="ECD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A817A"/>
                </a:solidFill>
                <a:latin typeface="Helvetica Neue"/>
              </a:rPr>
              <a:t>BrandPulse AI  ·  Voice of Customer Intelligence  ·  Persevex AI Internship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5615" y="63825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8A817A"/>
                </a:solidFill>
                <a:latin typeface="Helvetica Neue"/>
              </a:rPr>
              <a:t>Aaditiya Anjan   </a:t>
            </a:r>
            <a:r>
              <a:rPr sz="850" b="1">
                <a:solidFill>
                  <a:srgbClr val="E8763C"/>
                </a:solidFill>
                <a:latin typeface="Helvetica Neue"/>
              </a:rPr>
              <a:t>02</a:t>
            </a:r>
            <a:r>
              <a:rPr sz="850" b="0">
                <a:solidFill>
                  <a:srgbClr val="8A817A"/>
                </a:solidFill>
                <a:latin typeface="Helvetica Neue"/>
              </a:rPr>
              <a:t>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solidFill>
            <a:srgbClr val="F6C9A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25935" y="2377440"/>
            <a:ext cx="2926080" cy="2926080"/>
          </a:xfrm>
          <a:prstGeom prst="ellipse">
            <a:avLst/>
          </a:prstGeom>
          <a:solidFill>
            <a:srgbClr val="F2C07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554480"/>
            <a:ext cx="4754880" cy="4754880"/>
          </a:xfrm>
          <a:prstGeom prst="ellipse">
            <a:avLst/>
          </a:prstGeom>
          <a:solidFill>
            <a:srgbClr val="F6C9A0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502920" cy="88900"/>
          </a:xfrm>
          <a:prstGeom prst="roundRect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71323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763C"/>
                </a:solidFill>
                <a:latin typeface="Helvetica Neue"/>
              </a:rPr>
              <a:t>03  · 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A2520"/>
                </a:solidFill>
                <a:latin typeface="Helvetica Neue"/>
              </a:rPr>
              <a:t>An end-to-end </a:t>
            </a:r>
            <a:r>
              <a:rPr sz="3300" b="1">
                <a:solidFill>
                  <a:srgbClr val="E8763C"/>
                </a:solidFill>
                <a:latin typeface="Helvetica Neue"/>
              </a:rPr>
              <a:t>NLP pipeline</a:t>
            </a:r>
          </a:p>
        </p:txBody>
      </p:sp>
      <p:pic>
        <p:nvPicPr>
          <p:cNvPr id="9" name="Picture 8" descr="persevex_logo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384048"/>
            <a:ext cx="1051560" cy="4682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2697480"/>
            <a:ext cx="1417711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7767" y="2496312"/>
            <a:ext cx="402336" cy="402336"/>
          </a:xfrm>
          <a:prstGeom prst="ellipse">
            <a:avLst/>
          </a:prstGeom>
          <a:solidFill>
            <a:srgbClr val="E8763C"/>
          </a:solidFill>
          <a:ln w="25400">
            <a:solidFill>
              <a:srgbClr val="FBF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7767" y="2532888"/>
            <a:ext cx="402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12348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2520"/>
                </a:solidFill>
                <a:latin typeface="Helvetica Neue"/>
              </a:rPr>
              <a:t>Data 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23360"/>
            <a:ext cx="1326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E8763C"/>
                </a:solidFill>
                <a:latin typeface="Helvetica Neue"/>
              </a:rPr>
              <a:t>14.6k tweets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22383" y="2697480"/>
            <a:ext cx="1417711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30070" y="2496312"/>
            <a:ext cx="402336" cy="402336"/>
          </a:xfrm>
          <a:prstGeom prst="ellipse">
            <a:avLst/>
          </a:prstGeom>
          <a:solidFill>
            <a:srgbClr val="E8763C"/>
          </a:solidFill>
          <a:ln w="25400">
            <a:solidFill>
              <a:srgbClr val="FBF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30070" y="2532888"/>
            <a:ext cx="402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3823" y="3154680"/>
            <a:ext cx="12348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2520"/>
                </a:solidFill>
                <a:latin typeface="Helvetica Neue"/>
              </a:rPr>
              <a:t>Cleaning &amp; Normalise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8103" y="4023360"/>
            <a:ext cx="1326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E8763C"/>
                </a:solidFill>
                <a:latin typeface="Helvetica Neue"/>
              </a:rPr>
              <a:t>regex + lemmas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04686" y="2697480"/>
            <a:ext cx="1417711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12373" y="2496312"/>
            <a:ext cx="402336" cy="402336"/>
          </a:xfrm>
          <a:prstGeom prst="ellipse">
            <a:avLst/>
          </a:prstGeom>
          <a:solidFill>
            <a:srgbClr val="E8763C"/>
          </a:solidFill>
          <a:ln w="25400">
            <a:solidFill>
              <a:srgbClr val="FBF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2373" y="2532888"/>
            <a:ext cx="402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6126" y="3154680"/>
            <a:ext cx="12348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2520"/>
                </a:solidFill>
                <a:latin typeface="Helvetica Neue"/>
              </a:rPr>
              <a:t>Negation Fusion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0406" y="4023360"/>
            <a:ext cx="1326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E8763C"/>
                </a:solidFill>
                <a:latin typeface="Helvetica Neue"/>
              </a:rPr>
              <a:t>not_good token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86989" y="2697480"/>
            <a:ext cx="1417711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94676" y="2496312"/>
            <a:ext cx="402336" cy="402336"/>
          </a:xfrm>
          <a:prstGeom prst="ellipse">
            <a:avLst/>
          </a:prstGeom>
          <a:solidFill>
            <a:srgbClr val="E8763C"/>
          </a:solidFill>
          <a:ln w="25400">
            <a:solidFill>
              <a:srgbClr val="FBF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4676" y="2532888"/>
            <a:ext cx="402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78429" y="3154680"/>
            <a:ext cx="12348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2520"/>
                </a:solidFill>
                <a:latin typeface="Helvetica Neue"/>
              </a:rPr>
              <a:t>Feature 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2709" y="4023360"/>
            <a:ext cx="1326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E8763C"/>
                </a:solidFill>
                <a:latin typeface="Helvetica Neue"/>
              </a:rPr>
              <a:t>TF-IDF / tokens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69292" y="2697480"/>
            <a:ext cx="1417711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76979" y="2496312"/>
            <a:ext cx="402336" cy="402336"/>
          </a:xfrm>
          <a:prstGeom prst="ellipse">
            <a:avLst/>
          </a:prstGeom>
          <a:solidFill>
            <a:srgbClr val="E8763C"/>
          </a:solidFill>
          <a:ln w="25400">
            <a:solidFill>
              <a:srgbClr val="FBF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76979" y="2532888"/>
            <a:ext cx="402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0732" y="3154680"/>
            <a:ext cx="12348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2520"/>
                </a:solidFill>
                <a:latin typeface="Helvetica Neue"/>
              </a:rPr>
              <a:t>Model Building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5012" y="4023360"/>
            <a:ext cx="1326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E8763C"/>
                </a:solidFill>
                <a:latin typeface="Helvetica Neue"/>
              </a:rPr>
              <a:t>Classical + LSTM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51595" y="2697480"/>
            <a:ext cx="1417711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59282" y="2496312"/>
            <a:ext cx="402336" cy="402336"/>
          </a:xfrm>
          <a:prstGeom prst="ellipse">
            <a:avLst/>
          </a:prstGeom>
          <a:solidFill>
            <a:srgbClr val="E8763C"/>
          </a:solidFill>
          <a:ln w="25400">
            <a:solidFill>
              <a:srgbClr val="FBF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9282" y="2532888"/>
            <a:ext cx="402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3035" y="3154680"/>
            <a:ext cx="12348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2520"/>
                </a:solidFill>
                <a:latin typeface="Helvetica Neue"/>
              </a:rPr>
              <a:t>Evaluation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7315" y="4023360"/>
            <a:ext cx="1326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E8763C"/>
                </a:solidFill>
                <a:latin typeface="Helvetica Neue"/>
              </a:rPr>
              <a:t>macro-F1, CM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33898" y="2697480"/>
            <a:ext cx="1417711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641585" y="2496312"/>
            <a:ext cx="402336" cy="402336"/>
          </a:xfrm>
          <a:prstGeom prst="ellipse">
            <a:avLst/>
          </a:prstGeom>
          <a:solidFill>
            <a:srgbClr val="E8763C"/>
          </a:solidFill>
          <a:ln w="25400">
            <a:solidFill>
              <a:srgbClr val="FBF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41585" y="2532888"/>
            <a:ext cx="402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25338" y="3154680"/>
            <a:ext cx="12348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2520"/>
                </a:solidFill>
                <a:latin typeface="Helvetica Neue"/>
              </a:rPr>
              <a:t>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79618" y="4023360"/>
            <a:ext cx="1326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E8763C"/>
                </a:solidFill>
                <a:latin typeface="Helvetica Neue"/>
              </a:rPr>
              <a:t>live Streamlit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4937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3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138928"/>
            <a:ext cx="1036289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763C"/>
                </a:solidFill>
                <a:latin typeface="Helvetica Neue"/>
              </a:rPr>
              <a:t>Principle:  </a:t>
            </a:r>
            <a:r>
              <a:rPr sz="1350" b="0">
                <a:solidFill>
                  <a:srgbClr val="2A2520"/>
                </a:solidFill>
                <a:latin typeface="Helvetica Neue"/>
              </a:rPr>
              <a:t>one shared cleaning module is used at BOTH train and serve time — so the live app always sees text cleaned exactly like the training data. No train/serve skew.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0080" y="6291072"/>
            <a:ext cx="10911535" cy="0"/>
          </a:xfrm>
          <a:prstGeom prst="bentConnector3">
            <a:avLst/>
          </a:prstGeom>
          <a:ln w="9525">
            <a:solidFill>
              <a:srgbClr val="ECD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A817A"/>
                </a:solidFill>
                <a:latin typeface="Helvetica Neue"/>
              </a:rPr>
              <a:t>BrandPulse AI  ·  Voice of Customer Intelligence  ·  Persevex AI Internship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65615" y="63825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8A817A"/>
                </a:solidFill>
                <a:latin typeface="Helvetica Neue"/>
              </a:rPr>
              <a:t>Aaditiya Anjan   </a:t>
            </a:r>
            <a:r>
              <a:rPr sz="850" b="1">
                <a:solidFill>
                  <a:srgbClr val="E8763C"/>
                </a:solidFill>
                <a:latin typeface="Helvetica Neue"/>
              </a:rPr>
              <a:t>03</a:t>
            </a:r>
            <a:r>
              <a:rPr sz="850" b="0">
                <a:solidFill>
                  <a:srgbClr val="8A817A"/>
                </a:solidFill>
                <a:latin typeface="Helvetica Neue"/>
              </a:rPr>
              <a:t>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solidFill>
            <a:srgbClr val="F6C9A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25935" y="2377440"/>
            <a:ext cx="2926080" cy="2926080"/>
          </a:xfrm>
          <a:prstGeom prst="ellipse">
            <a:avLst/>
          </a:prstGeom>
          <a:solidFill>
            <a:srgbClr val="F2C07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554480"/>
            <a:ext cx="4754880" cy="4754880"/>
          </a:xfrm>
          <a:prstGeom prst="ellipse">
            <a:avLst/>
          </a:prstGeom>
          <a:solidFill>
            <a:srgbClr val="F6C9A0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502920" cy="88900"/>
          </a:xfrm>
          <a:prstGeom prst="roundRect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71323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763C"/>
                </a:solidFill>
                <a:latin typeface="Helvetica Neue"/>
              </a:rPr>
              <a:t>04  ·  THE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A2520"/>
                </a:solidFill>
                <a:latin typeface="Helvetica Neue"/>
              </a:rPr>
              <a:t>Twitter US Airline Sentiment</a:t>
            </a:r>
          </a:p>
        </p:txBody>
      </p:sp>
      <p:pic>
        <p:nvPicPr>
          <p:cNvPr id="9" name="Picture 8" descr="persevex_logo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384048"/>
            <a:ext cx="1051560" cy="468272"/>
          </a:xfrm>
          <a:prstGeom prst="rect">
            <a:avLst/>
          </a:prstGeom>
        </p:spPr>
      </p:pic>
      <p:pic>
        <p:nvPicPr>
          <p:cNvPr id="10" name="Picture 9" descr="fig_class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431" y="2331720"/>
            <a:ext cx="3143297" cy="3383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0" y="2468880"/>
            <a:ext cx="2907792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688336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2A2520"/>
                </a:solidFill>
                <a:latin typeface="Helvetica Neue"/>
              </a:rPr>
              <a:t>14,640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246120"/>
            <a:ext cx="2907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8A817A"/>
                </a:solidFill>
                <a:latin typeface="Helvetica Neue"/>
              </a:rPr>
              <a:t>LABELLED TWEETS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2468880"/>
            <a:ext cx="2907792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688336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E8763C"/>
                </a:solidFill>
                <a:latin typeface="Helvetica Ne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246120"/>
            <a:ext cx="2907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8A817A"/>
                </a:solidFill>
                <a:latin typeface="Helvetica Neue"/>
              </a:rPr>
              <a:t>SENTIMENT CLASSES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3877056"/>
            <a:ext cx="2907792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4096512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3B6EA5"/>
                </a:solidFill>
                <a:latin typeface="Helvetica Neue"/>
              </a:rPr>
              <a:t>63 / 21 /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654296"/>
            <a:ext cx="2907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8A817A"/>
                </a:solidFill>
                <a:latin typeface="Helvetica Neue"/>
              </a:rPr>
              <a:t>NEG / NEU / POS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3877056"/>
            <a:ext cx="2907792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4096512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3FA66A"/>
                </a:solidFill>
                <a:latin typeface="Helvetica Neue"/>
              </a:rPr>
              <a:t>80 / 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654296"/>
            <a:ext cx="2907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8A817A"/>
                </a:solidFill>
                <a:latin typeface="Helvetica Neue"/>
              </a:rPr>
              <a:t>STRATIFIED 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257800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8A817A"/>
                </a:solidFill>
                <a:latin typeface="Helvetica Neue"/>
              </a:rPr>
              <a:t>Chosen over Sentiment140 (binary only) because the brief requires three classes — and its real Feb-2015 timestamps power the dashboard's sentiment-over-time trend.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291072"/>
            <a:ext cx="10911535" cy="0"/>
          </a:xfrm>
          <a:prstGeom prst="bentConnector3">
            <a:avLst/>
          </a:prstGeom>
          <a:ln w="9525">
            <a:solidFill>
              <a:srgbClr val="ECD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A817A"/>
                </a:solidFill>
                <a:latin typeface="Helvetica Neue"/>
              </a:rPr>
              <a:t>BrandPulse AI  ·  Voice of Customer Intelligence  ·  Persevex AI Internship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5615" y="63825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8A817A"/>
                </a:solidFill>
                <a:latin typeface="Helvetica Neue"/>
              </a:rPr>
              <a:t>Aaditiya Anjan   </a:t>
            </a:r>
            <a:r>
              <a:rPr sz="850" b="1">
                <a:solidFill>
                  <a:srgbClr val="E8763C"/>
                </a:solidFill>
                <a:latin typeface="Helvetica Neue"/>
              </a:rPr>
              <a:t>04</a:t>
            </a:r>
            <a:r>
              <a:rPr sz="850" b="0">
                <a:solidFill>
                  <a:srgbClr val="8A817A"/>
                </a:solidFill>
                <a:latin typeface="Helvetica Neue"/>
              </a:rPr>
              <a:t>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solidFill>
            <a:srgbClr val="F6C9A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25935" y="2377440"/>
            <a:ext cx="2926080" cy="2926080"/>
          </a:xfrm>
          <a:prstGeom prst="ellipse">
            <a:avLst/>
          </a:prstGeom>
          <a:solidFill>
            <a:srgbClr val="F2C07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554480"/>
            <a:ext cx="4754880" cy="4754880"/>
          </a:xfrm>
          <a:prstGeom prst="ellipse">
            <a:avLst/>
          </a:prstGeom>
          <a:solidFill>
            <a:srgbClr val="F6C9A0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502920" cy="88900"/>
          </a:xfrm>
          <a:prstGeom prst="roundRect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71323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763C"/>
                </a:solidFill>
                <a:latin typeface="Helvetica Neue"/>
              </a:rPr>
              <a:t>05  ·  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A2520"/>
                </a:solidFill>
                <a:latin typeface="Helvetica Neue"/>
              </a:rPr>
              <a:t>Taming the </a:t>
            </a:r>
            <a:r>
              <a:rPr sz="3300" b="1">
                <a:solidFill>
                  <a:srgbClr val="E8763C"/>
                </a:solidFill>
                <a:latin typeface="Helvetica Neue"/>
              </a:rPr>
              <a:t>messiest text</a:t>
            </a:r>
            <a:r>
              <a:rPr sz="3300" b="1">
                <a:solidFill>
                  <a:srgbClr val="2A2520"/>
                </a:solidFill>
                <a:latin typeface="Helvetica Neue"/>
              </a:rPr>
              <a:t> on the internet</a:t>
            </a:r>
          </a:p>
        </p:txBody>
      </p:sp>
      <p:pic>
        <p:nvPicPr>
          <p:cNvPr id="9" name="Picture 8" descr="persevex_logo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384048"/>
            <a:ext cx="1051560" cy="4682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251460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743200"/>
            <a:ext cx="365760" cy="365760"/>
          </a:xfrm>
          <a:prstGeom prst="ellipse">
            <a:avLst/>
          </a:prstGeom>
          <a:solidFill>
            <a:srgbClr val="F6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6148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E8763C"/>
                </a:solidFill>
                <a:latin typeface="Helvetica Neu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752344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2A2520"/>
                </a:solidFill>
                <a:latin typeface="Helvetica Neue"/>
              </a:rPr>
              <a:t>Normalise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2783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A817A"/>
                </a:solidFill>
                <a:latin typeface="Helvetica Neue"/>
              </a:rPr>
              <a:t>Lowercase, decode HTML entities (&amp;amp; → &amp;).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251460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09160" y="2743200"/>
            <a:ext cx="365760" cy="365760"/>
          </a:xfrm>
          <a:prstGeom prst="ellipse">
            <a:avLst/>
          </a:prstGeom>
          <a:solidFill>
            <a:srgbClr val="F6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276148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E8763C"/>
                </a:solidFill>
                <a:latin typeface="Helvetica Neue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752344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2A2520"/>
                </a:solidFill>
                <a:latin typeface="Helvetica Neue"/>
              </a:rPr>
              <a:t>Strip noise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22783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A817A"/>
                </a:solidFill>
                <a:latin typeface="Helvetica Neue"/>
              </a:rPr>
              <a:t>Regex removes URLs, @mentions, # symbols, numbers, stretched letters.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251460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49640" y="2743200"/>
            <a:ext cx="365760" cy="365760"/>
          </a:xfrm>
          <a:prstGeom prst="ellipse">
            <a:avLst/>
          </a:prstGeom>
          <a:solidFill>
            <a:srgbClr val="F6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276148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E8763C"/>
                </a:solidFill>
                <a:latin typeface="Helvetica Neu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752344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2A2520"/>
                </a:solidFill>
                <a:latin typeface="Helvetica Neue"/>
              </a:rPr>
              <a:t>Expand contractions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22783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A817A"/>
                </a:solidFill>
                <a:latin typeface="Helvetica Neue"/>
              </a:rPr>
              <a:t>can't → can not, so negation survives tokenisation.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062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" y="4434840"/>
            <a:ext cx="365760" cy="365760"/>
          </a:xfrm>
          <a:prstGeom prst="ellipse">
            <a:avLst/>
          </a:prstGeom>
          <a:solidFill>
            <a:srgbClr val="F6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45312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E8763C"/>
                </a:solidFill>
                <a:latin typeface="Helvetica Neue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443984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2A2520"/>
                </a:solidFill>
                <a:latin typeface="Helvetica Neue"/>
              </a:rPr>
              <a:t>Lemmatise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1947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A817A"/>
                </a:solidFill>
                <a:latin typeface="Helvetica Neue"/>
              </a:rPr>
              <a:t>POS-aware WordNet: running → run, better → good.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42062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09160" y="4434840"/>
            <a:ext cx="365760" cy="365760"/>
          </a:xfrm>
          <a:prstGeom prst="ellipse">
            <a:avLst/>
          </a:prstGeom>
          <a:solidFill>
            <a:srgbClr val="F6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60" y="445312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E8763C"/>
                </a:solidFill>
                <a:latin typeface="Helvetica Neue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443984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2A2520"/>
                </a:solidFill>
                <a:latin typeface="Helvetica Neue"/>
              </a:rPr>
              <a:t>Negation fusion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91947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A817A"/>
                </a:solidFill>
                <a:latin typeface="Helvetica Neue"/>
              </a:rPr>
              <a:t>not good → not_good — one clearly-negative feature.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42062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549640" y="4434840"/>
            <a:ext cx="365760" cy="365760"/>
          </a:xfrm>
          <a:prstGeom prst="ellipse">
            <a:avLst/>
          </a:prstGeom>
          <a:solidFill>
            <a:srgbClr val="F6C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445312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E8763C"/>
                </a:solidFill>
                <a:latin typeface="Helvetica Neue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443984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2A2520"/>
                </a:solidFill>
                <a:latin typeface="Helvetica Neue"/>
              </a:rPr>
              <a:t>Stopwords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91947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A817A"/>
                </a:solidFill>
                <a:latin typeface="Helvetica Neue"/>
              </a:rPr>
              <a:t>Remove filler words but KEEP negation words.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0080" y="6291072"/>
            <a:ext cx="10911535" cy="0"/>
          </a:xfrm>
          <a:prstGeom prst="bentConnector3">
            <a:avLst/>
          </a:prstGeom>
          <a:ln w="9525">
            <a:solidFill>
              <a:srgbClr val="ECD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A817A"/>
                </a:solidFill>
                <a:latin typeface="Helvetica Neue"/>
              </a:rPr>
              <a:t>BrandPulse AI  ·  Voice of Customer Intelligence  ·  Persevex AI Internship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5615" y="63825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8A817A"/>
                </a:solidFill>
                <a:latin typeface="Helvetica Neue"/>
              </a:rPr>
              <a:t>Aaditiya Anjan   </a:t>
            </a:r>
            <a:r>
              <a:rPr sz="850" b="1">
                <a:solidFill>
                  <a:srgbClr val="E8763C"/>
                </a:solidFill>
                <a:latin typeface="Helvetica Neue"/>
              </a:rPr>
              <a:t>05</a:t>
            </a:r>
            <a:r>
              <a:rPr sz="850" b="0">
                <a:solidFill>
                  <a:srgbClr val="8A817A"/>
                </a:solidFill>
                <a:latin typeface="Helvetica Neue"/>
              </a:rPr>
              <a:t>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solidFill>
            <a:srgbClr val="F6C9A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25935" y="2377440"/>
            <a:ext cx="2926080" cy="2926080"/>
          </a:xfrm>
          <a:prstGeom prst="ellipse">
            <a:avLst/>
          </a:prstGeom>
          <a:solidFill>
            <a:srgbClr val="F2C07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554480"/>
            <a:ext cx="4754880" cy="4754880"/>
          </a:xfrm>
          <a:prstGeom prst="ellipse">
            <a:avLst/>
          </a:prstGeom>
          <a:solidFill>
            <a:srgbClr val="F6C9A0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502920" cy="88900"/>
          </a:xfrm>
          <a:prstGeom prst="roundRect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71323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763C"/>
                </a:solidFill>
                <a:latin typeface="Helvetica Neue"/>
              </a:rPr>
              <a:t>06  ·  MODELLING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A2520"/>
                </a:solidFill>
                <a:latin typeface="Helvetica Neue"/>
              </a:rPr>
              <a:t>Two philosophies, one </a:t>
            </a:r>
            <a:r>
              <a:rPr sz="3300" b="1">
                <a:solidFill>
                  <a:srgbClr val="E8763C"/>
                </a:solidFill>
                <a:latin typeface="Helvetica Neue"/>
              </a:rPr>
              <a:t>fair contest</a:t>
            </a:r>
          </a:p>
        </p:txBody>
      </p:sp>
      <p:pic>
        <p:nvPicPr>
          <p:cNvPr id="9" name="Picture 8" descr="persevex_logo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384048"/>
            <a:ext cx="1051560" cy="4682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2468880"/>
            <a:ext cx="53492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E8763C"/>
                </a:solidFill>
                <a:latin typeface="Helvetica Neue"/>
              </a:rPr>
              <a:t>Approach A — Classical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54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2520"/>
                </a:solidFill>
                <a:latin typeface="Helvetica Neue"/>
              </a:rPr>
              <a:t>TF-IDF  →  Logistic Regression / Naive Bayes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8763C"/>
                </a:solidFill>
                <a:latin typeface="Helvetica Neue"/>
              </a:rPr>
              <a:t>•  </a:t>
            </a:r>
            <a:r>
              <a:rPr sz="1250" b="0">
                <a:solidFill>
                  <a:srgbClr val="8A817A"/>
                </a:solidFill>
                <a:latin typeface="Helvetica Neue"/>
              </a:rPr>
              <a:t>Unigrams + bigrams, 20k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8763C"/>
                </a:solidFill>
                <a:latin typeface="Helvetica Neue"/>
              </a:rPr>
              <a:t>•  </a:t>
            </a:r>
            <a:r>
              <a:rPr sz="1250" b="0">
                <a:solidFill>
                  <a:srgbClr val="8A817A"/>
                </a:solidFill>
                <a:latin typeface="Helvetica Neue"/>
              </a:rPr>
              <a:t>Class-weighted for 63% imbalance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8763C"/>
                </a:solidFill>
                <a:latin typeface="Helvetica Neue"/>
              </a:rPr>
              <a:t>•  </a:t>
            </a:r>
            <a:r>
              <a:rPr sz="1250" b="0">
                <a:solidFill>
                  <a:srgbClr val="8A817A"/>
                </a:solidFill>
                <a:latin typeface="Helvetica Neue"/>
              </a:rPr>
              <a:t>Trains in seconds on CPU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834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8763C"/>
                </a:solidFill>
                <a:latin typeface="Helvetica Neue"/>
              </a:rPr>
              <a:t>•  </a:t>
            </a:r>
            <a:r>
              <a:rPr sz="1250" b="0">
                <a:solidFill>
                  <a:srgbClr val="8A817A"/>
                </a:solidFill>
                <a:latin typeface="Helvetica Neue"/>
              </a:rPr>
              <a:t>Fully interpretable — reads driving words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468880"/>
            <a:ext cx="53492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6974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3B6EA5"/>
                </a:solidFill>
                <a:latin typeface="Helvetica Neue"/>
              </a:rPr>
              <a:t>Approach B — Deep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154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2520"/>
                </a:solidFill>
                <a:latin typeface="Helvetica Neue"/>
              </a:rPr>
              <a:t>Embedding  →  Bi-LSTM  →  Dense (softmax)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118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B6EA5"/>
                </a:solidFill>
                <a:latin typeface="Helvetica Neue"/>
              </a:rPr>
              <a:t>•  </a:t>
            </a:r>
            <a:r>
              <a:rPr sz="1250" b="0">
                <a:solidFill>
                  <a:srgbClr val="8A817A"/>
                </a:solidFill>
                <a:latin typeface="Helvetica Neue"/>
              </a:rPr>
              <a:t>Vocabulary 10k, sequences padded to 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0690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B6EA5"/>
                </a:solidFill>
                <a:latin typeface="Helvetica Neue"/>
              </a:rPr>
              <a:t>•  </a:t>
            </a:r>
            <a:r>
              <a:rPr sz="1250" b="0">
                <a:solidFill>
                  <a:srgbClr val="8A817A"/>
                </a:solidFill>
                <a:latin typeface="Helvetica Neue"/>
              </a:rPr>
              <a:t>Reads word order — 'not happy' ≠ 'happy'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5262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B6EA5"/>
                </a:solidFill>
                <a:latin typeface="Helvetica Neue"/>
              </a:rPr>
              <a:t>•  </a:t>
            </a:r>
            <a:r>
              <a:rPr sz="1250" b="0">
                <a:solidFill>
                  <a:srgbClr val="8A817A"/>
                </a:solidFill>
                <a:latin typeface="Helvetica Neue"/>
              </a:rPr>
              <a:t>EarlyStopping restores best epoch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9834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B6EA5"/>
                </a:solidFill>
                <a:latin typeface="Helvetica Neue"/>
              </a:rPr>
              <a:t>•  </a:t>
            </a:r>
            <a:r>
              <a:rPr sz="1250" b="0">
                <a:solidFill>
                  <a:srgbClr val="8A817A"/>
                </a:solidFill>
                <a:latin typeface="Helvetica Neue"/>
              </a:rPr>
              <a:t>Context-aware, less interpretable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291072"/>
            <a:ext cx="10911535" cy="0"/>
          </a:xfrm>
          <a:prstGeom prst="bentConnector3">
            <a:avLst/>
          </a:prstGeom>
          <a:ln w="9525">
            <a:solidFill>
              <a:srgbClr val="ECD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A817A"/>
                </a:solidFill>
                <a:latin typeface="Helvetica Neue"/>
              </a:rPr>
              <a:t>BrandPulse AI  ·  Voice of Customer Intelligence  ·  Persevex AI Internship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5615" y="63825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8A817A"/>
                </a:solidFill>
                <a:latin typeface="Helvetica Neue"/>
              </a:rPr>
              <a:t>Aaditiya Anjan   </a:t>
            </a:r>
            <a:r>
              <a:rPr sz="850" b="1">
                <a:solidFill>
                  <a:srgbClr val="E8763C"/>
                </a:solidFill>
                <a:latin typeface="Helvetica Neue"/>
              </a:rPr>
              <a:t>06</a:t>
            </a:r>
            <a:r>
              <a:rPr sz="850" b="0">
                <a:solidFill>
                  <a:srgbClr val="8A817A"/>
                </a:solidFill>
                <a:latin typeface="Helvetica Neue"/>
              </a:rPr>
              <a:t>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solidFill>
            <a:srgbClr val="F6C9A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25935" y="2377440"/>
            <a:ext cx="2926080" cy="2926080"/>
          </a:xfrm>
          <a:prstGeom prst="ellipse">
            <a:avLst/>
          </a:prstGeom>
          <a:solidFill>
            <a:srgbClr val="F2C07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554480"/>
            <a:ext cx="4754880" cy="4754880"/>
          </a:xfrm>
          <a:prstGeom prst="ellipse">
            <a:avLst/>
          </a:prstGeom>
          <a:solidFill>
            <a:srgbClr val="F6C9A0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502920" cy="88900"/>
          </a:xfrm>
          <a:prstGeom prst="roundRect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71323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763C"/>
                </a:solidFill>
                <a:latin typeface="Helvetica Neue"/>
              </a:rPr>
              <a:t>07  · 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A2520"/>
                </a:solidFill>
                <a:latin typeface="Helvetica Neue"/>
              </a:rPr>
              <a:t>Macro-F1 is the </a:t>
            </a:r>
            <a:r>
              <a:rPr sz="3300" b="1">
                <a:solidFill>
                  <a:srgbClr val="E8763C"/>
                </a:solidFill>
                <a:latin typeface="Helvetica Neue"/>
              </a:rPr>
              <a:t>headline 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8A817A"/>
                </a:solidFill>
                <a:latin typeface="Helvetica Neue"/>
              </a:rPr>
              <a:t>On 63%-negative data, accuracy misleads — macro-F1 weights all three classes equally.</a:t>
            </a:r>
          </a:p>
        </p:txBody>
      </p:sp>
      <p:pic>
        <p:nvPicPr>
          <p:cNvPr id="10" name="Picture 9" descr="persevex_logo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384048"/>
            <a:ext cx="1051560" cy="46827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2331720"/>
            <a:ext cx="2577007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32888"/>
            <a:ext cx="25770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E8763C"/>
                </a:solidFill>
                <a:latin typeface="Helvetica Neue"/>
              </a:rPr>
              <a:t>Logistic Reg.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36392"/>
            <a:ext cx="25770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A817A"/>
                </a:solidFill>
                <a:latin typeface="Helvetica Neue"/>
              </a:rPr>
              <a:t>BEST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8255" y="2331720"/>
            <a:ext cx="2577007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8255" y="2532888"/>
            <a:ext cx="25770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2A2520"/>
                </a:solidFill>
                <a:latin typeface="Helvetica Neue"/>
              </a:rPr>
              <a:t>77.0%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8255" y="3136392"/>
            <a:ext cx="25770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A817A"/>
                </a:solidFill>
                <a:latin typeface="Helvetica Neue"/>
              </a:rPr>
              <a:t>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6430" y="2331720"/>
            <a:ext cx="2577007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6430" y="2532888"/>
            <a:ext cx="25770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3FA66A"/>
                </a:solidFill>
                <a:latin typeface="Helvetica Neue"/>
              </a:rPr>
              <a:t>0.723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6430" y="3136392"/>
            <a:ext cx="25770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A817A"/>
                </a:solidFill>
                <a:latin typeface="Helvetica Neue"/>
              </a:rPr>
              <a:t>MACRO F1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4605" y="2331720"/>
            <a:ext cx="2577007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4605" y="2532888"/>
            <a:ext cx="25770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3B6EA5"/>
                </a:solidFill>
                <a:latin typeface="Helvetica Neue"/>
              </a:rPr>
              <a:t>0.715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4605" y="3136392"/>
            <a:ext cx="25770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A817A"/>
                </a:solidFill>
                <a:latin typeface="Helvetica Neue"/>
              </a:rPr>
              <a:t>BI-LSTM MACRO F1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94760"/>
            <a:ext cx="10911535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ig_metric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364" y="3931920"/>
            <a:ext cx="3362966" cy="1783080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640080" y="6291072"/>
            <a:ext cx="10911535" cy="0"/>
          </a:xfrm>
          <a:prstGeom prst="bentConnector3">
            <a:avLst/>
          </a:prstGeom>
          <a:ln w="9525">
            <a:solidFill>
              <a:srgbClr val="ECD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A817A"/>
                </a:solidFill>
                <a:latin typeface="Helvetica Neue"/>
              </a:rPr>
              <a:t>BrandPulse AI  ·  Voice of Customer Intelligence  ·  Persevex AI Internship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5615" y="63825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8A817A"/>
                </a:solidFill>
                <a:latin typeface="Helvetica Neue"/>
              </a:rPr>
              <a:t>Aaditiya Anjan   </a:t>
            </a:r>
            <a:r>
              <a:rPr sz="850" b="1">
                <a:solidFill>
                  <a:srgbClr val="E8763C"/>
                </a:solidFill>
                <a:latin typeface="Helvetica Neue"/>
              </a:rPr>
              <a:t>07</a:t>
            </a:r>
            <a:r>
              <a:rPr sz="850" b="0">
                <a:solidFill>
                  <a:srgbClr val="8A817A"/>
                </a:solidFill>
                <a:latin typeface="Helvetica Neue"/>
              </a:rPr>
              <a:t>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solidFill>
            <a:srgbClr val="F6C9A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25935" y="2377440"/>
            <a:ext cx="2926080" cy="2926080"/>
          </a:xfrm>
          <a:prstGeom prst="ellipse">
            <a:avLst/>
          </a:prstGeom>
          <a:solidFill>
            <a:srgbClr val="F2C07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554480"/>
            <a:ext cx="4754880" cy="4754880"/>
          </a:xfrm>
          <a:prstGeom prst="ellipse">
            <a:avLst/>
          </a:prstGeom>
          <a:solidFill>
            <a:srgbClr val="F6C9A0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502920" cy="88900"/>
          </a:xfrm>
          <a:prstGeom prst="roundRect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71323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763C"/>
                </a:solidFill>
                <a:latin typeface="Helvetica Neue"/>
              </a:rPr>
              <a:t>08  · 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A2520"/>
                </a:solidFill>
                <a:latin typeface="Helvetica Neue"/>
              </a:rPr>
              <a:t>Per-class </a:t>
            </a:r>
            <a:r>
              <a:rPr sz="3300" b="1">
                <a:solidFill>
                  <a:srgbClr val="E8763C"/>
                </a:solidFill>
                <a:latin typeface="Helvetica Neue"/>
              </a:rPr>
              <a:t>precision &amp; 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8A817A"/>
                </a:solidFill>
                <a:latin typeface="Helvetica Neue"/>
              </a:rPr>
              <a:t>The real test: does the model handle the rare positive and neutral classes, not just negative?</a:t>
            </a:r>
          </a:p>
        </p:txBody>
      </p:sp>
      <p:pic>
        <p:nvPicPr>
          <p:cNvPr id="10" name="Picture 9" descr="persevex_logo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384048"/>
            <a:ext cx="1051560" cy="468272"/>
          </a:xfrm>
          <a:prstGeom prst="rect">
            <a:avLst/>
          </a:prstGeom>
        </p:spPr>
      </p:pic>
      <p:pic>
        <p:nvPicPr>
          <p:cNvPr id="11" name="Picture 10" descr="fig_per_class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93673"/>
            <a:ext cx="6492240" cy="344225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223760" y="2468880"/>
            <a:ext cx="4327855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2670048"/>
            <a:ext cx="3779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Helvetica Neue"/>
              </a:rPr>
              <a:t>Logistic Regression — per class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3154680"/>
            <a:ext cx="3962095" cy="566928"/>
          </a:xfrm>
          <a:prstGeom prst="roundRect">
            <a:avLst>
              <a:gd name="adj" fmla="val 20000"/>
            </a:avLst>
          </a:prstGeom>
          <a:solidFill>
            <a:srgbClr val="F3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3154680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E8763C"/>
                </a:solidFill>
                <a:latin typeface="Helvetica Neue"/>
              </a:rPr>
              <a:t>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3154680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E8763C"/>
                </a:solidFill>
                <a:latin typeface="Helvetica Neue"/>
              </a:rPr>
              <a:t>Prec.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3154680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E8763C"/>
                </a:solidFill>
                <a:latin typeface="Helvetica Neue"/>
              </a:rP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3154680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E8763C"/>
                </a:solidFill>
                <a:latin typeface="Helvetica Neue"/>
              </a:rPr>
              <a:t>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3721608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8A817A"/>
                </a:solidFill>
                <a:latin typeface="Helvetica Neue"/>
              </a:rPr>
              <a:t>Negative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721608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2A2520"/>
                </a:solidFill>
                <a:latin typeface="Helvetica Neue"/>
              </a:rPr>
              <a:t>0.88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3721608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2A2520"/>
                </a:solidFill>
                <a:latin typeface="Helvetica Neue"/>
              </a:rPr>
              <a:t>0.82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3721608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2A2520"/>
                </a:solidFill>
                <a:latin typeface="Helvetica Neue"/>
              </a:rPr>
              <a:t>0.85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4288536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8A817A"/>
                </a:solidFill>
                <a:latin typeface="Helvetica Neue"/>
              </a:rPr>
              <a:t>Neutral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288536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2A2520"/>
                </a:solidFill>
                <a:latin typeface="Helvetica Neue"/>
              </a:rPr>
              <a:t>0.55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4288536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2A2520"/>
                </a:solidFill>
                <a:latin typeface="Helvetica Neue"/>
              </a:rPr>
              <a:t>0.67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4288536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2A2520"/>
                </a:solidFill>
                <a:latin typeface="Helvetica Neue"/>
              </a:rPr>
              <a:t>0.61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4855464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8A817A"/>
                </a:solidFill>
                <a:latin typeface="Helvetica Neue"/>
              </a:rPr>
              <a:t>Positive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4855464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2A2520"/>
                </a:solidFill>
                <a:latin typeface="Helvetica Neue"/>
              </a:rPr>
              <a:t>0.71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4855464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2A2520"/>
                </a:solidFill>
                <a:latin typeface="Helvetica Neue"/>
              </a:rPr>
              <a:t>0.72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855464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2A2520"/>
                </a:solidFill>
                <a:latin typeface="Helvetica Neue"/>
              </a:rPr>
              <a:t>0.72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5440680"/>
            <a:ext cx="3779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A817A"/>
                </a:solidFill>
                <a:latin typeface="Helvetica Neue"/>
              </a:rPr>
              <a:t>Strong on negative (F1 0.85); neutral is hardest, as expected.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6291072"/>
            <a:ext cx="10911535" cy="0"/>
          </a:xfrm>
          <a:prstGeom prst="bentConnector3">
            <a:avLst/>
          </a:prstGeom>
          <a:ln w="9525">
            <a:solidFill>
              <a:srgbClr val="ECD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A817A"/>
                </a:solidFill>
                <a:latin typeface="Helvetica Neue"/>
              </a:rPr>
              <a:t>BrandPulse AI  ·  Voice of Customer Intelligence  ·  Persevex AI Internship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5615" y="63825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8A817A"/>
                </a:solidFill>
                <a:latin typeface="Helvetica Neue"/>
              </a:rPr>
              <a:t>Aaditiya Anjan   </a:t>
            </a:r>
            <a:r>
              <a:rPr sz="850" b="1">
                <a:solidFill>
                  <a:srgbClr val="E8763C"/>
                </a:solidFill>
                <a:latin typeface="Helvetica Neue"/>
              </a:rPr>
              <a:t>08</a:t>
            </a:r>
            <a:r>
              <a:rPr sz="850" b="0">
                <a:solidFill>
                  <a:srgbClr val="8A817A"/>
                </a:solidFill>
                <a:latin typeface="Helvetica Neue"/>
              </a:rPr>
              <a:t>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solidFill>
            <a:srgbClr val="F6C9A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25935" y="2377440"/>
            <a:ext cx="2926080" cy="2926080"/>
          </a:xfrm>
          <a:prstGeom prst="ellipse">
            <a:avLst/>
          </a:prstGeom>
          <a:solidFill>
            <a:srgbClr val="F2C07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554480"/>
            <a:ext cx="4754880" cy="4754880"/>
          </a:xfrm>
          <a:prstGeom prst="ellipse">
            <a:avLst/>
          </a:prstGeom>
          <a:solidFill>
            <a:srgbClr val="F6C9A0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502920" cy="88900"/>
          </a:xfrm>
          <a:prstGeom prst="roundRect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71323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763C"/>
                </a:solidFill>
                <a:latin typeface="Helvetica Neue"/>
              </a:rPr>
              <a:t>09  ·  DIAGNOSTICS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A2520"/>
                </a:solidFill>
                <a:latin typeface="Helvetica Neue"/>
              </a:rPr>
              <a:t>Where the models </a:t>
            </a:r>
            <a:r>
              <a:rPr sz="3300" b="1">
                <a:solidFill>
                  <a:srgbClr val="E8763C"/>
                </a:solidFill>
                <a:latin typeface="Helvetica Neue"/>
              </a:rPr>
              <a:t>fail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8A817A"/>
                </a:solidFill>
                <a:latin typeface="Helvetica Neue"/>
              </a:rPr>
              <a:t>Both confuse neutral ↔ negative most — flat complaints carry no overtly negative words.</a:t>
            </a:r>
          </a:p>
        </p:txBody>
      </p:sp>
      <p:pic>
        <p:nvPicPr>
          <p:cNvPr id="10" name="Picture 9" descr="persevex_logo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384048"/>
            <a:ext cx="1051560" cy="46827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2331720"/>
            <a:ext cx="10911535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g_confu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323" y="2468880"/>
            <a:ext cx="6847048" cy="3246120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640080" y="6291072"/>
            <a:ext cx="10911535" cy="0"/>
          </a:xfrm>
          <a:prstGeom prst="bentConnector3">
            <a:avLst/>
          </a:prstGeom>
          <a:ln w="9525">
            <a:solidFill>
              <a:srgbClr val="ECD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A817A"/>
                </a:solidFill>
                <a:latin typeface="Helvetica Neue"/>
              </a:rPr>
              <a:t>BrandPulse AI  ·  Voice of Customer Intelligence  ·  Persevex AI Internship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5615" y="63825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8A817A"/>
                </a:solidFill>
                <a:latin typeface="Helvetica Neue"/>
              </a:rPr>
              <a:t>Aaditiya Anjan   </a:t>
            </a:r>
            <a:r>
              <a:rPr sz="850" b="1">
                <a:solidFill>
                  <a:srgbClr val="E8763C"/>
                </a:solidFill>
                <a:latin typeface="Helvetica Neue"/>
              </a:rPr>
              <a:t>09</a:t>
            </a:r>
            <a:r>
              <a:rPr sz="850" b="0">
                <a:solidFill>
                  <a:srgbClr val="8A817A"/>
                </a:solidFill>
                <a:latin typeface="Helvetica Neue"/>
              </a:rPr>
              <a:t>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solidFill>
            <a:srgbClr val="F6C9A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25935" y="2377440"/>
            <a:ext cx="2926080" cy="2926080"/>
          </a:xfrm>
          <a:prstGeom prst="ellipse">
            <a:avLst/>
          </a:prstGeom>
          <a:solidFill>
            <a:srgbClr val="F2C07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554480"/>
            <a:ext cx="4754880" cy="4754880"/>
          </a:xfrm>
          <a:prstGeom prst="ellipse">
            <a:avLst/>
          </a:prstGeom>
          <a:solidFill>
            <a:srgbClr val="F6C9A0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502920" cy="88900"/>
          </a:xfrm>
          <a:prstGeom prst="roundRect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71323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763C"/>
                </a:solidFill>
                <a:latin typeface="Helvetica Neue"/>
              </a:rPr>
              <a:t>10  ·  EXPLAINABILITY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A2520"/>
                </a:solidFill>
                <a:latin typeface="Helvetica Neue"/>
              </a:rPr>
              <a:t>Not a black box — </a:t>
            </a:r>
            <a:r>
              <a:rPr sz="3300" b="1">
                <a:solidFill>
                  <a:srgbClr val="E8763C"/>
                </a:solidFill>
                <a:latin typeface="Helvetica Neue"/>
              </a:rPr>
              <a:t>we know why</a:t>
            </a:r>
          </a:p>
        </p:txBody>
      </p:sp>
      <p:pic>
        <p:nvPicPr>
          <p:cNvPr id="9" name="Picture 8" descr="persevex_logo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384048"/>
            <a:ext cx="1051560" cy="4682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2514600"/>
            <a:ext cx="52120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807208"/>
            <a:ext cx="1143000" cy="384048"/>
          </a:xfrm>
          <a:prstGeom prst="roundRect">
            <a:avLst/>
          </a:prstGeom>
          <a:solidFill>
            <a:srgbClr val="D9534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16352"/>
            <a:ext cx="1143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D9534F"/>
                </a:solidFill>
                <a:latin typeface="Helvetica Neue"/>
              </a:rPr>
              <a:t>NEGATIVE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788920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2520"/>
                </a:solidFill>
                <a:latin typeface="Helvetica Neue"/>
              </a:rPr>
              <a:t>not_good · delay · cancel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52120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904488"/>
            <a:ext cx="1143000" cy="384048"/>
          </a:xfrm>
          <a:prstGeom prst="roundRect">
            <a:avLst/>
          </a:prstGeom>
          <a:solidFill>
            <a:srgbClr val="3FA66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13632"/>
            <a:ext cx="1143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FA66A"/>
                </a:solidFill>
                <a:latin typeface="Helvetica Neue"/>
              </a:rPr>
              <a:t>POSITIVE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886200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2520"/>
                </a:solidFill>
                <a:latin typeface="Helvetica Neue"/>
              </a:rPr>
              <a:t>thanks · great · amazing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09160"/>
            <a:ext cx="52120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001768"/>
            <a:ext cx="1143000" cy="384048"/>
          </a:xfrm>
          <a:prstGeom prst="roundRect">
            <a:avLst/>
          </a:prstGeom>
          <a:solidFill>
            <a:srgbClr val="8A817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1143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A817A"/>
                </a:solidFill>
                <a:latin typeface="Helvetica Neue"/>
              </a:rPr>
              <a:t>NEUTRAL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983480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2A2520"/>
                </a:solidFill>
                <a:latin typeface="Helvetica Neue"/>
              </a:rPr>
              <a:t>flight · gate · 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514600"/>
            <a:ext cx="5425135" cy="3337560"/>
          </a:xfrm>
          <a:prstGeom prst="roundRect">
            <a:avLst>
              <a:gd name="adj" fmla="val 8000"/>
            </a:avLst>
          </a:prstGeom>
          <a:solidFill>
            <a:srgbClr val="F3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743200"/>
            <a:ext cx="48764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763C"/>
                </a:solidFill>
                <a:latin typeface="Helvetica Neue"/>
              </a:rPr>
              <a:t>How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46120"/>
            <a:ext cx="4876495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2A2520"/>
                </a:solidFill>
                <a:latin typeface="Helvetica Neue"/>
              </a:rPr>
              <a:t>Every classical prediction comes with the exact words that drove it, read straight from the Logistic Regression coefficients. The dashboard shows these live, so a user can trust — and challenge — each verdict.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A2520"/>
                </a:solidFill>
                <a:latin typeface="Helvetica Neue"/>
              </a:rPr>
              <a:t>Predictions below 60% confidence are flagged </a:t>
            </a:r>
            <a:r>
              <a:rPr sz="1350" b="1">
                <a:solidFill>
                  <a:srgbClr val="E8763C"/>
                </a:solidFill>
                <a:latin typeface="Helvetica Neue"/>
              </a:rPr>
              <a:t>“needs human review”</a:t>
            </a:r>
            <a:r>
              <a:rPr sz="1350" b="0">
                <a:solidFill>
                  <a:srgbClr val="2A2520"/>
                </a:solidFill>
                <a:latin typeface="Helvetica Neue"/>
              </a:rPr>
              <a:t> rather than forced into a label — realistic production behaviour.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6291072"/>
            <a:ext cx="10911535" cy="0"/>
          </a:xfrm>
          <a:prstGeom prst="bentConnector3">
            <a:avLst/>
          </a:prstGeom>
          <a:ln w="9525">
            <a:solidFill>
              <a:srgbClr val="ECD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A817A"/>
                </a:solidFill>
                <a:latin typeface="Helvetica Neue"/>
              </a:rPr>
              <a:t>BrandPulse AI  ·  Voice of Customer Intelligence  ·  Persevex AI Internship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5615" y="63825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8A817A"/>
                </a:solidFill>
                <a:latin typeface="Helvetica Neue"/>
              </a:rPr>
              <a:t>Aaditiya Anjan   </a:t>
            </a:r>
            <a:r>
              <a:rPr sz="850" b="1">
                <a:solidFill>
                  <a:srgbClr val="E8763C"/>
                </a:solidFill>
                <a:latin typeface="Helvetica Neue"/>
              </a:rPr>
              <a:t>10</a:t>
            </a:r>
            <a:r>
              <a:rPr sz="850" b="0">
                <a:solidFill>
                  <a:srgbClr val="8A817A"/>
                </a:solidFill>
                <a:latin typeface="Helvetica Neue"/>
              </a:rPr>
              <a:t>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solidFill>
            <a:srgbClr val="F6C9A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25935" y="2377440"/>
            <a:ext cx="2926080" cy="2926080"/>
          </a:xfrm>
          <a:prstGeom prst="ellipse">
            <a:avLst/>
          </a:prstGeom>
          <a:solidFill>
            <a:srgbClr val="F2C07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554480"/>
            <a:ext cx="4754880" cy="4754880"/>
          </a:xfrm>
          <a:prstGeom prst="ellipse">
            <a:avLst/>
          </a:prstGeom>
          <a:solidFill>
            <a:srgbClr val="F6C9A0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502920" cy="88900"/>
          </a:xfrm>
          <a:prstGeom prst="roundRect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71323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763C"/>
                </a:solidFill>
                <a:latin typeface="Helvetica Neue"/>
              </a:rPr>
              <a:t>11  · 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A2520"/>
                </a:solidFill>
                <a:latin typeface="Helvetica Neue"/>
              </a:rPr>
              <a:t>The </a:t>
            </a:r>
            <a:r>
              <a:rPr sz="3300" b="1">
                <a:solidFill>
                  <a:srgbClr val="E8763C"/>
                </a:solidFill>
                <a:latin typeface="Helvetica Neue"/>
              </a:rPr>
              <a:t>live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8A817A"/>
                </a:solidFill>
                <a:latin typeface="Helvetica Neue"/>
              </a:rPr>
              <a:t>An Apple-inspired light interface serving both models side by side — explainable and real-time.</a:t>
            </a:r>
          </a:p>
        </p:txBody>
      </p:sp>
      <p:pic>
        <p:nvPicPr>
          <p:cNvPr id="10" name="Picture 9" descr="persevex_logo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384048"/>
            <a:ext cx="1051560" cy="46827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2331720"/>
            <a:ext cx="10911535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g_dashboard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400" y="2450592"/>
            <a:ext cx="5084895" cy="3291840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640080" y="6291072"/>
            <a:ext cx="10911535" cy="0"/>
          </a:xfrm>
          <a:prstGeom prst="bentConnector3">
            <a:avLst/>
          </a:prstGeom>
          <a:ln w="9525">
            <a:solidFill>
              <a:srgbClr val="ECD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A817A"/>
                </a:solidFill>
                <a:latin typeface="Helvetica Neue"/>
              </a:rPr>
              <a:t>BrandPulse AI  ·  Voice of Customer Intelligence  ·  Persevex AI Internship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5615" y="63825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8A817A"/>
                </a:solidFill>
                <a:latin typeface="Helvetica Neue"/>
              </a:rPr>
              <a:t>Aaditiya Anjan   </a:t>
            </a:r>
            <a:r>
              <a:rPr sz="850" b="1">
                <a:solidFill>
                  <a:srgbClr val="E8763C"/>
                </a:solidFill>
                <a:latin typeface="Helvetica Neue"/>
              </a:rPr>
              <a:t>11</a:t>
            </a:r>
            <a:r>
              <a:rPr sz="850" b="0">
                <a:solidFill>
                  <a:srgbClr val="8A817A"/>
                </a:solidFill>
                <a:latin typeface="Helvetica Neue"/>
              </a:rPr>
              <a:t>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solidFill>
            <a:srgbClr val="F6C9A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25935" y="2377440"/>
            <a:ext cx="2926080" cy="2926080"/>
          </a:xfrm>
          <a:prstGeom prst="ellipse">
            <a:avLst/>
          </a:prstGeom>
          <a:solidFill>
            <a:srgbClr val="F2C07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554480"/>
            <a:ext cx="4754880" cy="4754880"/>
          </a:xfrm>
          <a:prstGeom prst="ellipse">
            <a:avLst/>
          </a:prstGeom>
          <a:solidFill>
            <a:srgbClr val="F6C9A0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502920" cy="88900"/>
          </a:xfrm>
          <a:prstGeom prst="roundRect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71323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763C"/>
                </a:solidFill>
                <a:latin typeface="Helvetica Neue"/>
              </a:rPr>
              <a:t>12  · 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2A2520"/>
                </a:solidFill>
                <a:latin typeface="Helvetica Neue"/>
              </a:rPr>
              <a:t>Findings &amp; </a:t>
            </a:r>
            <a:r>
              <a:rPr sz="3300" b="1">
                <a:solidFill>
                  <a:srgbClr val="E8763C"/>
                </a:solidFill>
                <a:latin typeface="Helvetica Neue"/>
              </a:rPr>
              <a:t>what's next</a:t>
            </a:r>
          </a:p>
        </p:txBody>
      </p:sp>
      <p:pic>
        <p:nvPicPr>
          <p:cNvPr id="9" name="Picture 8" descr="persevex_logo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384048"/>
            <a:ext cx="1051560" cy="468272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85800" y="2542032"/>
            <a:ext cx="146304" cy="146304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6217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A2520"/>
                </a:solidFill>
                <a:latin typeface="Helvetica Neue"/>
              </a:rPr>
              <a:t>The simple model won.  </a:t>
            </a:r>
            <a:r>
              <a:rPr sz="1250" b="0">
                <a:solidFill>
                  <a:srgbClr val="8A817A"/>
                </a:solidFill>
                <a:latin typeface="Helvetica Neue"/>
              </a:rPr>
              <a:t>Class-weighted Logistic Regression took the best macro-F1 — beating the Bi-LSTM while training in seconds and explaining itself.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456432"/>
            <a:ext cx="146304" cy="146304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383280"/>
            <a:ext cx="6217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A2520"/>
                </a:solidFill>
                <a:latin typeface="Helvetica Neue"/>
              </a:rPr>
              <a:t>Honest evaluation.  </a:t>
            </a:r>
            <a:r>
              <a:rPr sz="1250" b="0">
                <a:solidFill>
                  <a:srgbClr val="8A817A"/>
                </a:solidFill>
                <a:latin typeface="Helvetica Neue"/>
              </a:rPr>
              <a:t>Macro-F1 over accuracy, confidence-based review flags, and one shared cleaning module to prevent train/serve skew.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370832"/>
            <a:ext cx="146304" cy="146304"/>
          </a:xfrm>
          <a:prstGeom prst="ellipse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297680"/>
            <a:ext cx="6217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A2520"/>
                </a:solidFill>
                <a:latin typeface="Helvetica Neue"/>
              </a:rPr>
              <a:t>Production-minded.  </a:t>
            </a:r>
            <a:r>
              <a:rPr sz="1250" b="0">
                <a:solidFill>
                  <a:srgbClr val="8A817A"/>
                </a:solidFill>
                <a:latin typeface="Helvetica Neue"/>
              </a:rPr>
              <a:t>A premium live dashboard with explainability and real-timestamp trend analysis — viva and recruiter ready.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331720"/>
            <a:ext cx="4053535" cy="3520440"/>
          </a:xfrm>
          <a:prstGeom prst="roundRect">
            <a:avLst>
              <a:gd name="adj" fmla="val 8000"/>
            </a:avLst>
          </a:prstGeom>
          <a:solidFill>
            <a:srgbClr val="F3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542032"/>
            <a:ext cx="3596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763C"/>
                </a:solidFill>
                <a:latin typeface="Helvetica Neue"/>
              </a:rPr>
              <a:t>FUTURE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926080"/>
            <a:ext cx="3687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763C"/>
                </a:solidFill>
                <a:latin typeface="Helvetica Neue"/>
              </a:rPr>
              <a:t>→  </a:t>
            </a:r>
            <a:r>
              <a:rPr sz="1200" b="0">
                <a:solidFill>
                  <a:srgbClr val="2A2520"/>
                </a:solidFill>
                <a:latin typeface="Helvetica Neue"/>
              </a:rPr>
              <a:t>Fine-tune a transformer (DistilBERT)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337560"/>
            <a:ext cx="3687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763C"/>
                </a:solidFill>
                <a:latin typeface="Helvetica Neue"/>
              </a:rPr>
              <a:t>→  </a:t>
            </a:r>
            <a:r>
              <a:rPr sz="1200" b="0">
                <a:solidFill>
                  <a:srgbClr val="2A2520"/>
                </a:solidFill>
                <a:latin typeface="Helvetica Neue"/>
              </a:rPr>
              <a:t>Probability 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749040"/>
            <a:ext cx="3687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763C"/>
                </a:solidFill>
                <a:latin typeface="Helvetica Neue"/>
              </a:rPr>
              <a:t>→  </a:t>
            </a:r>
            <a:r>
              <a:rPr sz="1200" b="0">
                <a:solidFill>
                  <a:srgbClr val="2A2520"/>
                </a:solidFill>
                <a:latin typeface="Helvetica Neue"/>
              </a:rPr>
              <a:t>Dedicated sarcasm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160520"/>
            <a:ext cx="3687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763C"/>
                </a:solidFill>
                <a:latin typeface="Helvetica Neue"/>
              </a:rPr>
              <a:t>→  </a:t>
            </a:r>
            <a:r>
              <a:rPr sz="1200" b="0">
                <a:solidFill>
                  <a:srgbClr val="2A2520"/>
                </a:solidFill>
                <a:latin typeface="Helvetica Neue"/>
              </a:rPr>
              <a:t>Live X-API streaming +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754880"/>
            <a:ext cx="3596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763C"/>
                </a:solidFill>
                <a:latin typeface="Helvetica Neue"/>
              </a:rPr>
              <a:t>KEY 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120640"/>
            <a:ext cx="3687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A817A"/>
                </a:solidFill>
                <a:latin typeface="Helvetica Neue"/>
              </a:rPr>
              <a:t>[1] Pedregosa et al., scikit-learn, JMLR 2011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413248"/>
            <a:ext cx="3687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A817A"/>
                </a:solidFill>
                <a:latin typeface="Helvetica Neue"/>
              </a:rPr>
              <a:t>[2] Hochreiter &amp; Schmidhuber, LSTM, 1997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705856"/>
            <a:ext cx="3687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A817A"/>
                </a:solidFill>
                <a:latin typeface="Helvetica Neue"/>
              </a:rPr>
              <a:t>[3] Abadi et al., TensorFlow, 2016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291072"/>
            <a:ext cx="10911535" cy="0"/>
          </a:xfrm>
          <a:prstGeom prst="bentConnector3">
            <a:avLst/>
          </a:prstGeom>
          <a:ln w="9525">
            <a:solidFill>
              <a:srgbClr val="ECD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A817A"/>
                </a:solidFill>
                <a:latin typeface="Helvetica Neue"/>
              </a:rPr>
              <a:t>BrandPulse AI  ·  Voice of Customer Intelligence  ·  Persevex AI Internship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5615" y="63825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8A817A"/>
                </a:solidFill>
                <a:latin typeface="Helvetica Neue"/>
              </a:rPr>
              <a:t>Aaditiya Anjan   </a:t>
            </a:r>
            <a:r>
              <a:rPr sz="850" b="1">
                <a:solidFill>
                  <a:srgbClr val="E8763C"/>
                </a:solidFill>
                <a:latin typeface="Helvetica Neue"/>
              </a:rPr>
              <a:t>12</a:t>
            </a:r>
            <a:r>
              <a:rPr sz="850" b="0">
                <a:solidFill>
                  <a:srgbClr val="8A817A"/>
                </a:solidFill>
                <a:latin typeface="Helvetica Neue"/>
              </a:rPr>
              <a:t>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solidFill>
            <a:srgbClr val="F6C9A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25935" y="2377440"/>
            <a:ext cx="2926080" cy="2926080"/>
          </a:xfrm>
          <a:prstGeom prst="ellipse">
            <a:avLst/>
          </a:prstGeom>
          <a:solidFill>
            <a:srgbClr val="F2C07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554480"/>
            <a:ext cx="4754880" cy="4754880"/>
          </a:xfrm>
          <a:prstGeom prst="ellipse">
            <a:avLst/>
          </a:prstGeom>
          <a:solidFill>
            <a:srgbClr val="F6C9A0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640080" cy="101600"/>
          </a:xfrm>
          <a:prstGeom prst="roundRect">
            <a:avLst/>
          </a:prstGeom>
          <a:solidFill>
            <a:srgbClr val="E87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0116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2A2520"/>
                </a:solidFill>
                <a:latin typeface="Helvetica Neue"/>
              </a:rPr>
              <a:t>Thank </a:t>
            </a:r>
            <a:r>
              <a:rPr sz="5200" b="1">
                <a:solidFill>
                  <a:srgbClr val="E8763C"/>
                </a:solidFill>
                <a:latin typeface="Helvetica Neue"/>
              </a:rPr>
              <a:t>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200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8A817A"/>
                </a:solidFill>
                <a:latin typeface="Helvetica Neue"/>
              </a:rPr>
              <a:t>BrandPulse AI — from messy tweets to Voice-of-Customer intelligence.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7490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A2520"/>
                </a:solidFill>
                <a:latin typeface="Helvetica Neue"/>
              </a:rPr>
              <a:t>Questions &amp; discussion welcome.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572000"/>
            <a:ext cx="49377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8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763C"/>
                </a:solidFill>
                <a:latin typeface="Helvetica Neue"/>
              </a:rPr>
              <a:t>GITHUB &amp; COLAB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7492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A2520"/>
                </a:solidFill>
                <a:latin typeface="Helvetica Neue"/>
              </a:rPr>
              <a:t>See Live_Link.txt in the project folder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4572000"/>
            <a:ext cx="53949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CD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7548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8763C"/>
                </a:solidFill>
                <a:latin typeface="Helvetica Neue"/>
              </a:rPr>
              <a:t>PRESENTED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0749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2520"/>
                </a:solidFill>
                <a:latin typeface="Helvetica Neue"/>
              </a:rPr>
              <a:t>Aaditiya Anjan</a:t>
            </a:r>
            <a:r>
              <a:rPr sz="1200" b="0">
                <a:solidFill>
                  <a:srgbClr val="8A817A"/>
                </a:solidFill>
                <a:latin typeface="Helvetica Neue"/>
              </a:rPr>
              <a:t>   ·   24BCS13112  ·  BE-CSE  ·  Sem 5</a:t>
            </a:r>
          </a:p>
        </p:txBody>
      </p:sp>
      <p:pic>
        <p:nvPicPr>
          <p:cNvPr id="16" name="Picture 15" descr="persevex_logo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384048"/>
            <a:ext cx="1828800" cy="8143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